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69" r:id="rId2"/>
    <p:sldId id="262" r:id="rId3"/>
    <p:sldId id="270" r:id="rId4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93D1"/>
    <a:srgbClr val="FB4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012" y="-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1" y="0"/>
            <a:ext cx="7899598" cy="10684389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060796" y="1821457"/>
            <a:ext cx="5444987" cy="7074582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610" y="3204236"/>
            <a:ext cx="5314628" cy="2822832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3968" spc="-93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610" y="6144896"/>
            <a:ext cx="5314628" cy="207993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88" b="0">
                <a:solidFill>
                  <a:srgbClr val="FFFEFF"/>
                </a:solidFill>
              </a:defRPr>
            </a:lvl1pPr>
            <a:lvl2pPr marL="283475" indent="0" algn="ctr">
              <a:buNone/>
              <a:defRPr sz="1240"/>
            </a:lvl2pPr>
            <a:lvl3pPr marL="566951" indent="0" algn="ctr">
              <a:buNone/>
              <a:defRPr sz="1116"/>
            </a:lvl3pPr>
            <a:lvl4pPr marL="850426" indent="0" algn="ctr">
              <a:buNone/>
              <a:defRPr sz="992"/>
            </a:lvl4pPr>
            <a:lvl5pPr marL="1133902" indent="0" algn="ctr">
              <a:buNone/>
              <a:defRPr sz="992"/>
            </a:lvl5pPr>
            <a:lvl6pPr marL="1417377" indent="0" algn="ctr">
              <a:buNone/>
              <a:defRPr sz="992"/>
            </a:lvl6pPr>
            <a:lvl7pPr marL="1700853" indent="0" algn="ctr">
              <a:buNone/>
              <a:defRPr sz="992"/>
            </a:lvl7pPr>
            <a:lvl8pPr marL="1984328" indent="0" algn="ctr">
              <a:buNone/>
              <a:defRPr sz="992"/>
            </a:lvl8pPr>
            <a:lvl9pPr marL="2267803" indent="0" algn="ctr">
              <a:buNone/>
              <a:defRPr sz="99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33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842" y="3663597"/>
            <a:ext cx="2572842" cy="3842929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0608" y="1252189"/>
            <a:ext cx="3382516" cy="8182748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1" y="0"/>
            <a:ext cx="7899598" cy="10684389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987041" y="1806760"/>
            <a:ext cx="3569585" cy="7074582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601" y="3162998"/>
            <a:ext cx="3441663" cy="2700975"/>
          </a:xfrm>
        </p:spPr>
        <p:txBody>
          <a:bodyPr bIns="0" anchor="b">
            <a:normAutofit/>
          </a:bodyPr>
          <a:lstStyle>
            <a:lvl1pPr algn="ctr">
              <a:defRPr sz="2976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49601" y="5991872"/>
            <a:ext cx="3441663" cy="2223325"/>
          </a:xfrm>
        </p:spPr>
        <p:txBody>
          <a:bodyPr tIns="0">
            <a:normAutofit/>
          </a:bodyPr>
          <a:lstStyle>
            <a:lvl1pPr marL="0" indent="0" algn="ctr">
              <a:buNone/>
              <a:defRPr sz="1323">
                <a:solidFill>
                  <a:srgbClr val="FFFEFF"/>
                </a:solidFill>
              </a:defRPr>
            </a:lvl1pPr>
            <a:lvl2pPr marL="283475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951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426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902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737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85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432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780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4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11" y="3671617"/>
            <a:ext cx="2581205" cy="383490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6665" y="1253503"/>
            <a:ext cx="3382735" cy="3834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4407" y="5589277"/>
            <a:ext cx="3384992" cy="38518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5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11" y="3672833"/>
            <a:ext cx="2581205" cy="383369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1126" y="1250652"/>
            <a:ext cx="3145833" cy="1069181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88" b="0" cap="all" baseline="0">
                <a:solidFill>
                  <a:schemeClr val="accent1"/>
                </a:solidFill>
              </a:defRPr>
            </a:lvl1pPr>
            <a:lvl2pPr marL="283475" indent="0">
              <a:buNone/>
              <a:defRPr sz="1240" b="1"/>
            </a:lvl2pPr>
            <a:lvl3pPr marL="566951" indent="0">
              <a:buNone/>
              <a:defRPr sz="1116" b="1"/>
            </a:lvl3pPr>
            <a:lvl4pPr marL="850426" indent="0">
              <a:buNone/>
              <a:defRPr sz="992" b="1"/>
            </a:lvl4pPr>
            <a:lvl5pPr marL="1133902" indent="0">
              <a:buNone/>
              <a:defRPr sz="992" b="1"/>
            </a:lvl5pPr>
            <a:lvl6pPr marL="1417377" indent="0">
              <a:buNone/>
              <a:defRPr sz="992" b="1"/>
            </a:lvl6pPr>
            <a:lvl7pPr marL="1700853" indent="0">
              <a:buNone/>
              <a:defRPr sz="992" b="1"/>
            </a:lvl7pPr>
            <a:lvl8pPr marL="1984328" indent="0">
              <a:buNone/>
              <a:defRPr sz="992" b="1"/>
            </a:lvl8pPr>
            <a:lvl9pPr marL="2267803" indent="0">
              <a:buNone/>
              <a:defRPr sz="99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91146" y="2319832"/>
            <a:ext cx="3145461" cy="276785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1535" y="5589923"/>
            <a:ext cx="3157863" cy="1069181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488" b="0" cap="all" baseline="0">
                <a:solidFill>
                  <a:schemeClr val="accent1"/>
                </a:solidFill>
              </a:defRPr>
            </a:lvl1pPr>
            <a:lvl2pPr marL="283475" indent="0">
              <a:buNone/>
              <a:defRPr sz="1240" b="1"/>
            </a:lvl2pPr>
            <a:lvl3pPr marL="566951" indent="0">
              <a:buNone/>
              <a:defRPr sz="1116" b="1"/>
            </a:lvl3pPr>
            <a:lvl4pPr marL="850426" indent="0">
              <a:buNone/>
              <a:defRPr sz="992" b="1"/>
            </a:lvl4pPr>
            <a:lvl5pPr marL="1133902" indent="0">
              <a:buNone/>
              <a:defRPr sz="992" b="1"/>
            </a:lvl5pPr>
            <a:lvl6pPr marL="1417377" indent="0">
              <a:buNone/>
              <a:defRPr sz="992" b="1"/>
            </a:lvl6pPr>
            <a:lvl7pPr marL="1700853" indent="0">
              <a:buNone/>
              <a:defRPr sz="992" b="1"/>
            </a:lvl7pPr>
            <a:lvl8pPr marL="1984328" indent="0">
              <a:buNone/>
              <a:defRPr sz="992" b="1"/>
            </a:lvl8pPr>
            <a:lvl9pPr marL="2267803" indent="0">
              <a:buNone/>
              <a:defRPr sz="99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1535" y="6657567"/>
            <a:ext cx="3157863" cy="27835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00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842" y="3663597"/>
            <a:ext cx="2572842" cy="3842929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13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32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842" y="3663598"/>
            <a:ext cx="2572842" cy="1910431"/>
          </a:xfrm>
        </p:spPr>
        <p:txBody>
          <a:bodyPr bIns="0" anchor="b">
            <a:noAutofit/>
          </a:bodyPr>
          <a:lstStyle>
            <a:lvl1pPr algn="ctr">
              <a:defRPr sz="2315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0607" y="1249390"/>
            <a:ext cx="3386016" cy="8184109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9842" y="5574030"/>
            <a:ext cx="2572842" cy="1932496"/>
          </a:xfrm>
        </p:spPr>
        <p:txBody>
          <a:bodyPr>
            <a:normAutofit/>
          </a:bodyPr>
          <a:lstStyle>
            <a:lvl1pPr marL="0" indent="0" algn="ctr">
              <a:buNone/>
              <a:defRPr sz="1157">
                <a:solidFill>
                  <a:srgbClr val="FFFEFF"/>
                </a:solidFill>
              </a:defRPr>
            </a:lvl1pPr>
            <a:lvl2pPr marL="283475" indent="0">
              <a:buNone/>
              <a:defRPr sz="868"/>
            </a:lvl2pPr>
            <a:lvl3pPr marL="566951" indent="0">
              <a:buNone/>
              <a:defRPr sz="744"/>
            </a:lvl3pPr>
            <a:lvl4pPr marL="850426" indent="0">
              <a:buNone/>
              <a:defRPr sz="620"/>
            </a:lvl4pPr>
            <a:lvl5pPr marL="1133902" indent="0">
              <a:buNone/>
              <a:defRPr sz="620"/>
            </a:lvl5pPr>
            <a:lvl6pPr marL="1417377" indent="0">
              <a:buNone/>
              <a:defRPr sz="620"/>
            </a:lvl6pPr>
            <a:lvl7pPr marL="1700853" indent="0">
              <a:buNone/>
              <a:defRPr sz="620"/>
            </a:lvl7pPr>
            <a:lvl8pPr marL="1984328" indent="0">
              <a:buNone/>
              <a:defRPr sz="620"/>
            </a:lvl8pPr>
            <a:lvl9pPr marL="2267803" indent="0">
              <a:buNone/>
              <a:defRPr sz="62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02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1" y="0"/>
            <a:ext cx="7899598" cy="10684389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532801" y="2647747"/>
            <a:ext cx="3602711" cy="5410481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74925" y="0"/>
            <a:ext cx="2884750" cy="10691813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1984"/>
            </a:lvl1pPr>
            <a:lvl2pPr marL="283475" indent="0">
              <a:buNone/>
              <a:defRPr sz="1736"/>
            </a:lvl2pPr>
            <a:lvl3pPr marL="566951" indent="0">
              <a:buNone/>
              <a:defRPr sz="1488"/>
            </a:lvl3pPr>
            <a:lvl4pPr marL="850426" indent="0">
              <a:buNone/>
              <a:defRPr sz="1240"/>
            </a:lvl4pPr>
            <a:lvl5pPr marL="1133902" indent="0">
              <a:buNone/>
              <a:defRPr sz="1240"/>
            </a:lvl5pPr>
            <a:lvl6pPr marL="1417377" indent="0">
              <a:buNone/>
              <a:defRPr sz="1240"/>
            </a:lvl6pPr>
            <a:lvl7pPr marL="1700853" indent="0">
              <a:buNone/>
              <a:defRPr sz="1240"/>
            </a:lvl7pPr>
            <a:lvl8pPr marL="1984328" indent="0">
              <a:buNone/>
              <a:defRPr sz="1240"/>
            </a:lvl8pPr>
            <a:lvl9pPr marL="2267803" indent="0">
              <a:buNone/>
              <a:defRPr sz="124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214" y="3642516"/>
            <a:ext cx="3470362" cy="1973011"/>
          </a:xfrm>
        </p:spPr>
        <p:txBody>
          <a:bodyPr bIns="0" anchor="b">
            <a:normAutofit/>
          </a:bodyPr>
          <a:lstStyle>
            <a:lvl1pPr>
              <a:defRPr sz="2645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163" y="5615527"/>
            <a:ext cx="3471675" cy="1893494"/>
          </a:xfrm>
        </p:spPr>
        <p:txBody>
          <a:bodyPr>
            <a:normAutofit/>
          </a:bodyPr>
          <a:lstStyle>
            <a:lvl1pPr marL="0" indent="0" algn="ctr">
              <a:buNone/>
              <a:defRPr sz="1157">
                <a:solidFill>
                  <a:srgbClr val="FFFEFF"/>
                </a:solidFill>
              </a:defRPr>
            </a:lvl1pPr>
            <a:lvl2pPr marL="283475" indent="0">
              <a:buNone/>
              <a:defRPr sz="868"/>
            </a:lvl2pPr>
            <a:lvl3pPr marL="566951" indent="0">
              <a:buNone/>
              <a:defRPr sz="744"/>
            </a:lvl3pPr>
            <a:lvl4pPr marL="850426" indent="0">
              <a:buNone/>
              <a:defRPr sz="620"/>
            </a:lvl4pPr>
            <a:lvl5pPr marL="1133902" indent="0">
              <a:buNone/>
              <a:defRPr sz="620"/>
            </a:lvl5pPr>
            <a:lvl6pPr marL="1417377" indent="0">
              <a:buNone/>
              <a:defRPr sz="620"/>
            </a:lvl6pPr>
            <a:lvl7pPr marL="1700853" indent="0">
              <a:buNone/>
              <a:defRPr sz="620"/>
            </a:lvl7pPr>
            <a:lvl8pPr marL="1984328" indent="0">
              <a:buNone/>
              <a:defRPr sz="620"/>
            </a:lvl8pPr>
            <a:lvl9pPr marL="2267803" indent="0">
              <a:buNone/>
              <a:defRPr sz="62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9178" y="9708166"/>
            <a:ext cx="3603446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67749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2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36633" y="1"/>
            <a:ext cx="7789308" cy="10691815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529177" y="2649707"/>
            <a:ext cx="2717111" cy="5410483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81" y="3663600"/>
            <a:ext cx="2574303" cy="385512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50607" y="1238989"/>
            <a:ext cx="3386016" cy="81959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15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1" y="1"/>
            <a:ext cx="7789308" cy="10691815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4322287" y="2649707"/>
            <a:ext cx="2717111" cy="5410483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92953" y="3663598"/>
            <a:ext cx="2572842" cy="3842927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1805" y="1251600"/>
            <a:ext cx="3404740" cy="819238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9177" y="498951"/>
            <a:ext cx="2267903" cy="498951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9177" y="9708166"/>
            <a:ext cx="6493761" cy="49895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5962" y="498951"/>
            <a:ext cx="566976" cy="498951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2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842" y="3663598"/>
            <a:ext cx="2572842" cy="38429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0608" y="1238989"/>
            <a:ext cx="3372330" cy="8195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9177" y="498951"/>
            <a:ext cx="2267903" cy="498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9177" y="9708166"/>
            <a:ext cx="6493761" cy="498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5962" y="498951"/>
            <a:ext cx="566976" cy="4989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006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566951" rtl="0" eaLnBrk="1" latinLnBrk="0" hangingPunct="1">
        <a:lnSpc>
          <a:spcPct val="85000"/>
        </a:lnSpc>
        <a:spcBef>
          <a:spcPct val="0"/>
        </a:spcBef>
        <a:buNone/>
        <a:defRPr sz="2645" b="0" i="0" kern="1200" cap="none" spc="-9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41738" indent="-141738" algn="l" defTabSz="566951" rtl="0" eaLnBrk="1" latinLnBrk="0" hangingPunct="1">
        <a:lnSpc>
          <a:spcPct val="120000"/>
        </a:lnSpc>
        <a:spcBef>
          <a:spcPts val="62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23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25213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157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708689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92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992164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92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275639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92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559115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44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1842590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44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126066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44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409541" indent="-141738" algn="l" defTabSz="566951" rtl="0" eaLnBrk="1" latinLnBrk="0" hangingPunct="1">
        <a:lnSpc>
          <a:spcPct val="120000"/>
        </a:lnSpc>
        <a:spcBef>
          <a:spcPts val="31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44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475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951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426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902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377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853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328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7803" algn="l" defTabSz="566951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F7D9BD21-4A35-4CB6-AE01-F4895BB92337}"/>
              </a:ext>
            </a:extLst>
          </p:cNvPr>
          <p:cNvGrpSpPr/>
          <p:nvPr/>
        </p:nvGrpSpPr>
        <p:grpSpPr>
          <a:xfrm>
            <a:off x="0" y="0"/>
            <a:ext cx="7559675" cy="3151897"/>
            <a:chOff x="0" y="0"/>
            <a:chExt cx="7559675" cy="3151897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48325B91-AF6C-4327-B8D7-7D6C4767E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7559675" cy="3151897"/>
            </a:xfrm>
            <a:prstGeom prst="rect">
              <a:avLst/>
            </a:prstGeom>
          </p:spPr>
        </p:pic>
        <p:sp>
          <p:nvSpPr>
            <p:cNvPr id="17" name="Прямоугольник: один усеченный угол 16">
              <a:extLst>
                <a:ext uri="{FF2B5EF4-FFF2-40B4-BE49-F238E27FC236}">
                  <a16:creationId xmlns:a16="http://schemas.microsoft.com/office/drawing/2014/main" id="{44A3DFB4-7EC9-49E0-BE39-AF416486BFB0}"/>
                </a:ext>
              </a:extLst>
            </p:cNvPr>
            <p:cNvSpPr/>
            <p:nvPr/>
          </p:nvSpPr>
          <p:spPr>
            <a:xfrm rot="16200000">
              <a:off x="5847162" y="1528175"/>
              <a:ext cx="239121" cy="45719"/>
            </a:xfrm>
            <a:prstGeom prst="snip1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2"/>
                </a:solidFill>
              </a:endParaRPr>
            </a:p>
          </p:txBody>
        </p:sp>
        <p:sp>
          <p:nvSpPr>
            <p:cNvPr id="19" name="Прямоугольник: один усеченный угол 18">
              <a:extLst>
                <a:ext uri="{FF2B5EF4-FFF2-40B4-BE49-F238E27FC236}">
                  <a16:creationId xmlns:a16="http://schemas.microsoft.com/office/drawing/2014/main" id="{768CADC1-1283-4AC7-9B7A-ED3EC7932B43}"/>
                </a:ext>
              </a:extLst>
            </p:cNvPr>
            <p:cNvSpPr/>
            <p:nvPr/>
          </p:nvSpPr>
          <p:spPr>
            <a:xfrm rot="10800000">
              <a:off x="584277" y="1480723"/>
              <a:ext cx="126047" cy="140622"/>
            </a:xfrm>
            <a:prstGeom prst="snip1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2"/>
                </a:solidFill>
              </a:endParaRPr>
            </a:p>
          </p:txBody>
        </p:sp>
        <p:sp>
          <p:nvSpPr>
            <p:cNvPr id="20" name="Прямоугольник: один усеченный угол 19">
              <a:extLst>
                <a:ext uri="{FF2B5EF4-FFF2-40B4-BE49-F238E27FC236}">
                  <a16:creationId xmlns:a16="http://schemas.microsoft.com/office/drawing/2014/main" id="{8114E86F-750F-4C53-989E-9E417D576D1F}"/>
                </a:ext>
              </a:extLst>
            </p:cNvPr>
            <p:cNvSpPr/>
            <p:nvPr/>
          </p:nvSpPr>
          <p:spPr>
            <a:xfrm rot="10800000">
              <a:off x="6849351" y="1480723"/>
              <a:ext cx="126047" cy="140622"/>
            </a:xfrm>
            <a:prstGeom prst="snip1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A82CD1B-3DB7-424D-B727-867F1601DCBE}"/>
              </a:ext>
            </a:extLst>
          </p:cNvPr>
          <p:cNvSpPr txBox="1"/>
          <p:nvPr/>
        </p:nvSpPr>
        <p:spPr>
          <a:xfrm>
            <a:off x="990600" y="3269837"/>
            <a:ext cx="561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ПРОФИЛЬ СОТРУДНИКА КОРПОРАЦИИ «ЛЕТОВО»</a:t>
            </a:r>
            <a:endParaRPr lang="ru-RU" sz="1400" b="1" dirty="0">
              <a:latin typeface="Calleo" panose="00000600000000000000" pitchFamily="2" charset="-52"/>
            </a:endParaRP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AA90D025-A2D3-442C-8DDF-936079F5DA44}"/>
              </a:ext>
            </a:extLst>
          </p:cNvPr>
          <p:cNvGrpSpPr/>
          <p:nvPr/>
        </p:nvGrpSpPr>
        <p:grpSpPr>
          <a:xfrm>
            <a:off x="956417" y="3597780"/>
            <a:ext cx="5158976" cy="989584"/>
            <a:chOff x="1208727" y="3498658"/>
            <a:chExt cx="5158976" cy="98958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54C4A6-4A3F-48E4-8A7F-BA38350AB389}"/>
                </a:ext>
              </a:extLst>
            </p:cNvPr>
            <p:cNvSpPr txBox="1"/>
            <p:nvPr/>
          </p:nvSpPr>
          <p:spPr>
            <a:xfrm>
              <a:off x="2832668" y="3498658"/>
              <a:ext cx="3535035" cy="985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en-US" sz="1000" b="1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{{ </a:t>
              </a:r>
              <a:r>
                <a:rPr lang="en-US" sz="1000" b="1" i="0" u="none" strike="noStrike" dirty="0" err="1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shift_name</a:t>
              </a:r>
              <a:r>
                <a:rPr lang="en-US" sz="1000" b="1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 }}</a:t>
              </a:r>
              <a:br>
                <a:rPr lang="ru-RU" sz="1000" b="1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</a:br>
              <a:r>
                <a:rPr lang="en-US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{{ </a:t>
              </a:r>
              <a:r>
                <a:rPr lang="en-US" sz="1000" b="1" cap="all" dirty="0" err="1">
                  <a:solidFill>
                    <a:srgbClr val="242424"/>
                  </a:solidFill>
                  <a:latin typeface="Calleo" panose="00000600000000000000" pitchFamily="2" charset="-52"/>
                </a:rPr>
                <a:t>shift</a:t>
              </a:r>
              <a:r>
                <a:rPr lang="en-US" sz="1000" b="1" i="0" cap="all" dirty="0" err="1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_dates</a:t>
              </a:r>
              <a:r>
                <a:rPr lang="en-US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 }}</a:t>
              </a:r>
              <a:br>
                <a:rPr lang="ru-RU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</a:br>
              <a:r>
                <a:rPr lang="en-US" sz="1000" b="1" i="0" cap="all" dirty="0">
                  <a:effectLst/>
                  <a:latin typeface="Calleo" panose="00000600000000000000" pitchFamily="2" charset="-52"/>
                </a:rPr>
                <a:t>{{ </a:t>
              </a:r>
              <a:r>
                <a:rPr lang="en-US" sz="1000" b="1" i="0" cap="all" dirty="0" err="1">
                  <a:effectLst/>
                  <a:latin typeface="Calleo" panose="00000600000000000000" pitchFamily="2" charset="-52"/>
                </a:rPr>
                <a:t>department_name</a:t>
              </a:r>
              <a:r>
                <a:rPr lang="en-US" sz="1000" b="1" i="0" cap="all" dirty="0">
                  <a:effectLst/>
                  <a:latin typeface="Calleo" panose="00000600000000000000" pitchFamily="2" charset="-52"/>
                </a:rPr>
                <a:t> }}</a:t>
              </a:r>
              <a:br>
                <a:rPr lang="ru-RU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</a:br>
              <a:r>
                <a:rPr lang="en-US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{{ </a:t>
              </a:r>
              <a:r>
                <a:rPr lang="en-US" sz="1000" b="1" i="0" cap="all" dirty="0" err="1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student_name</a:t>
              </a:r>
              <a:r>
                <a:rPr lang="en-US" sz="1000" b="1" i="0" cap="all" dirty="0">
                  <a:solidFill>
                    <a:srgbClr val="242424"/>
                  </a:solidFill>
                  <a:effectLst/>
                  <a:latin typeface="Calleo" panose="00000600000000000000" pitchFamily="2" charset="-52"/>
                </a:rPr>
                <a:t> }}</a:t>
              </a:r>
              <a:endParaRPr lang="ru-RU" sz="1000" b="1" dirty="0">
                <a:latin typeface="Calleo" panose="00000600000000000000" pitchFamily="2" charset="-5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1A75B8-9CC9-435D-BE0B-18EA5FACE7EC}"/>
                </a:ext>
              </a:extLst>
            </p:cNvPr>
            <p:cNvSpPr txBox="1"/>
            <p:nvPr/>
          </p:nvSpPr>
          <p:spPr>
            <a:xfrm>
              <a:off x="1208727" y="3503101"/>
              <a:ext cx="1425483" cy="985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0">
                <a:lnSpc>
                  <a:spcPct val="150000"/>
                </a:lnSpc>
                <a:spcBef>
                  <a:spcPts val="1200"/>
                </a:spcBef>
                <a:spcAft>
                  <a:spcPts val="0"/>
                </a:spcAft>
              </a:pPr>
              <a:r>
                <a:rPr lang="ru-RU" sz="1000" b="0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Название смены</a:t>
              </a:r>
              <a:endParaRPr lang="ru-RU" sz="1000" b="0" dirty="0">
                <a:effectLst/>
                <a:latin typeface="Calleo" panose="00000600000000000000" pitchFamily="2" charset="-52"/>
              </a:endParaRPr>
            </a:p>
            <a:p>
              <a:pPr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000" b="0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Дата смены</a:t>
              </a:r>
              <a:endParaRPr lang="ru-RU" sz="1000" b="0" dirty="0">
                <a:effectLst/>
                <a:latin typeface="Calleo" panose="00000600000000000000" pitchFamily="2" charset="-52"/>
              </a:endParaRPr>
            </a:p>
            <a:p>
              <a:pPr algn="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000" b="0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Департамент</a:t>
              </a:r>
              <a:endParaRPr lang="ru-RU" sz="1000" b="0" dirty="0">
                <a:effectLst/>
                <a:latin typeface="Calleo" panose="00000600000000000000" pitchFamily="2" charset="-52"/>
              </a:endParaRPr>
            </a:p>
            <a:p>
              <a:pPr algn="r" rtl="0">
                <a:lnSpc>
                  <a:spcPct val="150000"/>
                </a:lnSpc>
                <a:spcBef>
                  <a:spcPts val="0"/>
                </a:spcBef>
                <a:spcAft>
                  <a:spcPts val="1200"/>
                </a:spcAft>
              </a:pPr>
              <a:r>
                <a:rPr lang="ru-RU" sz="1000" b="0" i="0" u="none" strike="noStrike" dirty="0">
                  <a:solidFill>
                    <a:srgbClr val="0F1115"/>
                  </a:solidFill>
                  <a:effectLst/>
                  <a:latin typeface="Calleo" panose="00000600000000000000" pitchFamily="2" charset="-52"/>
                </a:rPr>
                <a:t>ФИО</a:t>
              </a:r>
              <a:endParaRPr lang="ru-RU" sz="1000" b="0" dirty="0">
                <a:effectLst/>
                <a:latin typeface="Calleo" panose="00000600000000000000" pitchFamily="2" charset="-52"/>
              </a:endParaRPr>
            </a:p>
          </p:txBody>
        </p: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8117ED3D-0B07-4529-B86A-09EC490205B1}"/>
                </a:ext>
              </a:extLst>
            </p:cNvPr>
            <p:cNvGrpSpPr/>
            <p:nvPr/>
          </p:nvGrpSpPr>
          <p:grpSpPr>
            <a:xfrm>
              <a:off x="2683805" y="3633471"/>
              <a:ext cx="107316" cy="776048"/>
              <a:chOff x="2460624" y="3245976"/>
              <a:chExt cx="107316" cy="776048"/>
            </a:xfrm>
          </p:grpSpPr>
          <p:pic>
            <p:nvPicPr>
              <p:cNvPr id="29" name="Рисунок 28">
                <a:extLst>
                  <a:ext uri="{FF2B5EF4-FFF2-40B4-BE49-F238E27FC236}">
                    <a16:creationId xmlns:a16="http://schemas.microsoft.com/office/drawing/2014/main" id="{13A8FDB2-8E89-4709-96A9-85F51C0E7D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0625" y="3245976"/>
                <a:ext cx="107315" cy="107315"/>
              </a:xfrm>
              <a:prstGeom prst="rect">
                <a:avLst/>
              </a:prstGeom>
            </p:spPr>
          </p:pic>
          <p:pic>
            <p:nvPicPr>
              <p:cNvPr id="30" name="Рисунок 29">
                <a:extLst>
                  <a:ext uri="{FF2B5EF4-FFF2-40B4-BE49-F238E27FC236}">
                    <a16:creationId xmlns:a16="http://schemas.microsoft.com/office/drawing/2014/main" id="{F9F1512E-3B70-4EA7-8C20-1146F204CC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0625" y="3465349"/>
                <a:ext cx="107315" cy="107315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E7157571-10FF-4A45-B907-5E37878A9E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0625" y="3688779"/>
                <a:ext cx="107315" cy="107315"/>
              </a:xfrm>
              <a:prstGeom prst="rect">
                <a:avLst/>
              </a:prstGeom>
            </p:spPr>
          </p:pic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D8A9AECA-8C1A-49DA-BEF3-54F25397D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60624" y="3914709"/>
                <a:ext cx="107315" cy="107315"/>
              </a:xfrm>
              <a:prstGeom prst="rect">
                <a:avLst/>
              </a:prstGeom>
            </p:spPr>
          </p:pic>
          <p:cxnSp>
            <p:nvCxnSpPr>
              <p:cNvPr id="34" name="Прямая соединительная линия 33">
                <a:extLst>
                  <a:ext uri="{FF2B5EF4-FFF2-40B4-BE49-F238E27FC236}">
                    <a16:creationId xmlns:a16="http://schemas.microsoft.com/office/drawing/2014/main" id="{F20F3BFE-3787-4B7D-BC3C-F3CB2F4B885E}"/>
                  </a:ext>
                </a:extLst>
              </p:cNvPr>
              <p:cNvCxnSpPr>
                <a:stCxn id="29" idx="2"/>
                <a:endCxn id="30" idx="0"/>
              </p:cNvCxnSpPr>
              <p:nvPr/>
            </p:nvCxnSpPr>
            <p:spPr>
              <a:xfrm>
                <a:off x="2514283" y="3353291"/>
                <a:ext cx="0" cy="112058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>
                <a:extLst>
                  <a:ext uri="{FF2B5EF4-FFF2-40B4-BE49-F238E27FC236}">
                    <a16:creationId xmlns:a16="http://schemas.microsoft.com/office/drawing/2014/main" id="{C2E9A3F6-EAE8-4D30-B623-E95AF3F8A60F}"/>
                  </a:ext>
                </a:extLst>
              </p:cNvPr>
              <p:cNvCxnSpPr>
                <a:cxnSpLocks/>
                <a:stCxn id="30" idx="2"/>
              </p:cNvCxnSpPr>
              <p:nvPr/>
            </p:nvCxnSpPr>
            <p:spPr>
              <a:xfrm flipH="1">
                <a:off x="2514281" y="3572664"/>
                <a:ext cx="2" cy="11611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Прямая соединительная линия 36">
                <a:extLst>
                  <a:ext uri="{FF2B5EF4-FFF2-40B4-BE49-F238E27FC236}">
                    <a16:creationId xmlns:a16="http://schemas.microsoft.com/office/drawing/2014/main" id="{7AC69700-35EF-4BDD-8BBD-C212BF7F24AD}"/>
                  </a:ext>
                </a:extLst>
              </p:cNvPr>
              <p:cNvCxnSpPr>
                <a:cxnSpLocks/>
                <a:stCxn id="31" idx="2"/>
              </p:cNvCxnSpPr>
              <p:nvPr/>
            </p:nvCxnSpPr>
            <p:spPr>
              <a:xfrm flipH="1">
                <a:off x="2514281" y="3796094"/>
                <a:ext cx="2" cy="125431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3ADC2B2-D110-4F72-972A-3343E9DA8E88}"/>
              </a:ext>
            </a:extLst>
          </p:cNvPr>
          <p:cNvGrpSpPr/>
          <p:nvPr/>
        </p:nvGrpSpPr>
        <p:grpSpPr>
          <a:xfrm>
            <a:off x="482649" y="2856483"/>
            <a:ext cx="6563273" cy="596961"/>
            <a:chOff x="482649" y="2856483"/>
            <a:chExt cx="6563273" cy="596961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957AF682-ED58-4E2B-9F47-20C83EA00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2649" y="2856483"/>
              <a:ext cx="596961" cy="596961"/>
            </a:xfrm>
            <a:prstGeom prst="rect">
              <a:avLst/>
            </a:prstGeom>
          </p:spPr>
        </p:pic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DF578675-A8E2-442C-8CD9-FF3092E06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6448961" y="2856483"/>
              <a:ext cx="596961" cy="596961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80B918C-54B5-4970-9313-F173D608F6B3}"/>
              </a:ext>
            </a:extLst>
          </p:cNvPr>
          <p:cNvSpPr txBox="1"/>
          <p:nvPr/>
        </p:nvSpPr>
        <p:spPr>
          <a:xfrm>
            <a:off x="973137" y="5142289"/>
            <a:ext cx="561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ИГРОВАЯ РОЛЬ</a:t>
            </a:r>
            <a:endParaRPr lang="ru-RU" sz="1400" dirty="0">
              <a:latin typeface="Calleo" panose="00000600000000000000" pitchFamily="2" charset="-5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CB9352-2D0D-44BE-B402-70481D0B05F9}"/>
              </a:ext>
            </a:extLst>
          </p:cNvPr>
          <p:cNvSpPr txBox="1"/>
          <p:nvPr/>
        </p:nvSpPr>
        <p:spPr>
          <a:xfrm>
            <a:off x="982080" y="5516641"/>
            <a:ext cx="5621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Кем этот участник был в нашей корпорации последние 10 дней?</a:t>
            </a:r>
            <a:b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r>
              <a:rPr lang="en-US" sz="1000" dirty="0"/>
              <a:t>{{ q1_answer }}</a:t>
            </a:r>
            <a:br>
              <a:rPr lang="ru-RU" sz="1000" b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endParaRPr lang="ru-RU" sz="1000" b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  <a:p>
            <a:pPr fontAlgn="base">
              <a:buFont typeface="+mj-lt"/>
              <a:buAutoNum type="arabicPeriod"/>
            </a:pP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Что самое быстрое и яркое приходит в голову про этого ребенка?</a:t>
            </a:r>
            <a:b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r>
              <a:rPr lang="en-US" sz="1000" dirty="0"/>
              <a:t>{{ q2_answer }}</a:t>
            </a:r>
            <a:endParaRPr lang="ru-RU" sz="1000" b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</p:txBody>
      </p: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63E95AA1-F3E6-4E97-97C1-E2F6B70FB180}"/>
              </a:ext>
            </a:extLst>
          </p:cNvPr>
          <p:cNvGrpSpPr/>
          <p:nvPr/>
        </p:nvGrpSpPr>
        <p:grpSpPr>
          <a:xfrm>
            <a:off x="292817" y="4508641"/>
            <a:ext cx="6940340" cy="894465"/>
            <a:chOff x="292817" y="4508641"/>
            <a:chExt cx="6940340" cy="894465"/>
          </a:xfrm>
        </p:grpSpPr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B3600F5C-9E56-4A35-9C29-26D709983A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4936667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Рисунок 61">
              <a:extLst>
                <a:ext uri="{FF2B5EF4-FFF2-40B4-BE49-F238E27FC236}">
                  <a16:creationId xmlns:a16="http://schemas.microsoft.com/office/drawing/2014/main" id="{6F3F75DB-1DE3-4AE1-A398-EDC65F5D2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2817" y="4568093"/>
              <a:ext cx="835013" cy="835013"/>
            </a:xfrm>
            <a:prstGeom prst="rect">
              <a:avLst/>
            </a:prstGeom>
          </p:spPr>
        </p:pic>
        <p:pic>
          <p:nvPicPr>
            <p:cNvPr id="63" name="Рисунок 62">
              <a:extLst>
                <a:ext uri="{FF2B5EF4-FFF2-40B4-BE49-F238E27FC236}">
                  <a16:creationId xmlns:a16="http://schemas.microsoft.com/office/drawing/2014/main" id="{82DF4D24-F699-4DA6-88CD-9B24CB6B4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6398144" y="4508641"/>
              <a:ext cx="835013" cy="835013"/>
            </a:xfrm>
            <a:prstGeom prst="rect">
              <a:avLst/>
            </a:prstGeom>
          </p:spPr>
        </p:pic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FA1CC102-3A1E-47C2-8611-8B91A3D3D6C6}"/>
              </a:ext>
            </a:extLst>
          </p:cNvPr>
          <p:cNvGrpSpPr/>
          <p:nvPr/>
        </p:nvGrpSpPr>
        <p:grpSpPr>
          <a:xfrm>
            <a:off x="283858" y="6619114"/>
            <a:ext cx="6940340" cy="894465"/>
            <a:chOff x="292817" y="4508641"/>
            <a:chExt cx="6940340" cy="894465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B734D19A-2355-4E21-BCEE-C0C53FF60A16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4936667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7FCF3C0C-AB70-4D04-A636-C8B5298D5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2817" y="4568093"/>
              <a:ext cx="835013" cy="835013"/>
            </a:xfrm>
            <a:prstGeom prst="rect">
              <a:avLst/>
            </a:prstGeom>
          </p:spPr>
        </p:pic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969E2744-F84A-4AD5-BBAD-4924C71C6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2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6398144" y="4508641"/>
              <a:ext cx="835013" cy="835013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059B8BD-E938-471F-9E1B-8FF7AFFB21EB}"/>
              </a:ext>
            </a:extLst>
          </p:cNvPr>
          <p:cNvSpPr txBox="1"/>
          <p:nvPr/>
        </p:nvSpPr>
        <p:spPr>
          <a:xfrm>
            <a:off x="982080" y="7265445"/>
            <a:ext cx="5613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HARD SKILLS: </a:t>
            </a:r>
            <a:r>
              <a:rPr lang="ru-RU" sz="140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ОБУЧЕНИЕ И КОМПЕТЕНЦИИ ДЕПАРТАМЕНТА</a:t>
            </a:r>
            <a:r>
              <a:rPr lang="ru-RU" sz="1400" b="0" i="1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</a:t>
            </a:r>
            <a:br>
              <a:rPr lang="ru-RU" sz="1400" i="1" dirty="0">
                <a:solidFill>
                  <a:srgbClr val="0F1115"/>
                </a:solidFill>
                <a:latin typeface="Calleo" panose="00000600000000000000" pitchFamily="2" charset="-52"/>
              </a:rPr>
            </a:br>
            <a:r>
              <a:rPr lang="ru-RU" sz="1000" b="0" i="1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Отражаем образовательную траекторию</a:t>
            </a:r>
            <a:endParaRPr lang="ru-RU" sz="1000" dirty="0">
              <a:latin typeface="Calleo" panose="00000600000000000000" pitchFamily="2" charset="-5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91F0AB-B620-46AE-9CBD-E7AD20721905}"/>
              </a:ext>
            </a:extLst>
          </p:cNvPr>
          <p:cNvSpPr txBox="1"/>
          <p:nvPr/>
        </p:nvSpPr>
        <p:spPr>
          <a:xfrm>
            <a:off x="991023" y="8050375"/>
            <a:ext cx="5621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000" b="1" dirty="0">
                <a:latin typeface="Calleo" panose="00000600000000000000" pitchFamily="2" charset="-52"/>
              </a:rPr>
              <a:t>3</a:t>
            </a:r>
            <a:r>
              <a:rPr lang="ru-RU" sz="1000" dirty="0">
                <a:latin typeface="Calleo" panose="00000600000000000000" pitchFamily="2" charset="-52"/>
              </a:rPr>
              <a:t>.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Стартовый уровень </a:t>
            </a:r>
            <a:r>
              <a:rPr lang="ru-RU" sz="1000" b="1" i="0" u="none" strike="noStrike" dirty="0" err="1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vs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Итог: С чем ребенок пришел на мастер-классы и какой рывок совершил? </a:t>
            </a:r>
            <a:b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r>
              <a:rPr lang="en-US" sz="1000" dirty="0"/>
              <a:t>{{ q3_answer }}</a:t>
            </a:r>
            <a:endParaRPr lang="ru-RU" sz="1000" b="1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</p:txBody>
      </p:sp>
      <p:sp>
        <p:nvSpPr>
          <p:cNvPr id="38" name="Равнобедренный треугольник 37">
            <a:extLst>
              <a:ext uri="{FF2B5EF4-FFF2-40B4-BE49-F238E27FC236}">
                <a16:creationId xmlns:a16="http://schemas.microsoft.com/office/drawing/2014/main" id="{6946976C-2B98-4EDF-94D2-91FF27B53FE5}"/>
              </a:ext>
            </a:extLst>
          </p:cNvPr>
          <p:cNvSpPr/>
          <p:nvPr/>
        </p:nvSpPr>
        <p:spPr>
          <a:xfrm rot="10800000">
            <a:off x="6731401" y="10031843"/>
            <a:ext cx="177670" cy="15316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25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A6CB9352-2D0D-44BE-B402-70481D0B05F9}"/>
              </a:ext>
            </a:extLst>
          </p:cNvPr>
          <p:cNvSpPr txBox="1"/>
          <p:nvPr/>
        </p:nvSpPr>
        <p:spPr>
          <a:xfrm>
            <a:off x="982080" y="583388"/>
            <a:ext cx="5621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1700"/>
              </a:spcBef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4.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Момент инсайта (Озарение): </a:t>
            </a:r>
            <a:r>
              <a:rPr lang="en-US" sz="1000" dirty="0"/>
              <a:t>{{ q4_answer }}</a:t>
            </a:r>
            <a:br>
              <a:rPr lang="ru-RU" sz="10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5.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Применение знаний:</a:t>
            </a: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</a:t>
            </a:r>
            <a:r>
              <a:rPr lang="en-US" sz="10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{{ q5_answer }}</a:t>
            </a: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</p:txBody>
      </p: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FA1CC102-3A1E-47C2-8611-8B91A3D3D6C6}"/>
              </a:ext>
            </a:extLst>
          </p:cNvPr>
          <p:cNvGrpSpPr/>
          <p:nvPr/>
        </p:nvGrpSpPr>
        <p:grpSpPr>
          <a:xfrm>
            <a:off x="283858" y="1499843"/>
            <a:ext cx="6940340" cy="894465"/>
            <a:chOff x="292817" y="4508641"/>
            <a:chExt cx="6940340" cy="894465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B734D19A-2355-4E21-BCEE-C0C53FF60A16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4936667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7FCF3C0C-AB70-4D04-A636-C8B5298D5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2817" y="4568093"/>
              <a:ext cx="835013" cy="835013"/>
            </a:xfrm>
            <a:prstGeom prst="rect">
              <a:avLst/>
            </a:prstGeom>
          </p:spPr>
        </p:pic>
        <p:pic>
          <p:nvPicPr>
            <p:cNvPr id="69" name="Рисунок 68">
              <a:extLst>
                <a:ext uri="{FF2B5EF4-FFF2-40B4-BE49-F238E27FC236}">
                  <a16:creationId xmlns:a16="http://schemas.microsoft.com/office/drawing/2014/main" id="{969E2744-F84A-4AD5-BBAD-4924C71C6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398144" y="4508641"/>
              <a:ext cx="835013" cy="835013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059B8BD-E938-471F-9E1B-8FF7AFFB21EB}"/>
              </a:ext>
            </a:extLst>
          </p:cNvPr>
          <p:cNvSpPr txBox="1"/>
          <p:nvPr/>
        </p:nvSpPr>
        <p:spPr>
          <a:xfrm>
            <a:off x="982080" y="2169456"/>
            <a:ext cx="5613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SOFT SKILLS: </a:t>
            </a:r>
            <a:r>
              <a:rPr lang="ru-RU" sz="14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РАБОТА В КОМАНДЕ И КРИЗИСЫ</a:t>
            </a:r>
            <a:br>
              <a:rPr lang="ru-RU" sz="14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r>
              <a:rPr lang="ru-RU" sz="1000" b="0" i="1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Самый важный блок для оценки гибких навыков.</a:t>
            </a:r>
            <a:br>
              <a:rPr lang="ru-RU" sz="14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endParaRPr lang="ru-RU" sz="1400" dirty="0">
              <a:latin typeface="Calleo" panose="00000600000000000000" pitchFamily="2" charset="-5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91F0AB-B620-46AE-9CBD-E7AD20721905}"/>
              </a:ext>
            </a:extLst>
          </p:cNvPr>
          <p:cNvSpPr txBox="1"/>
          <p:nvPr/>
        </p:nvSpPr>
        <p:spPr>
          <a:xfrm>
            <a:off x="991023" y="2732971"/>
            <a:ext cx="5621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6.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Тип коммуникации: </a:t>
            </a:r>
            <a:r>
              <a:rPr lang="en-US" sz="1000" dirty="0"/>
              <a:t>{{ q6_answer }}</a:t>
            </a: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  <a:p>
            <a:pPr fontAlgn="base"/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7.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Поведение в кризисе (Провал миссии): </a:t>
            </a:r>
            <a:r>
              <a:rPr lang="en-US" sz="1000" dirty="0"/>
              <a:t>{{ q7_answer }}</a:t>
            </a:r>
            <a:br>
              <a:rPr lang="ru-RU" sz="10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  <a:p>
            <a:pPr fontAlgn="base">
              <a:spcAft>
                <a:spcPts val="1200"/>
              </a:spcAft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8.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Лидерство и ответственность: </a:t>
            </a:r>
            <a:r>
              <a:rPr lang="en-US" sz="1000" dirty="0"/>
              <a:t>{{ q8_answer }}</a:t>
            </a:r>
            <a:endParaRPr lang="ru-RU" sz="1000" dirty="0">
              <a:solidFill>
                <a:srgbClr val="0F1115"/>
              </a:solidFill>
              <a:latin typeface="Calleo" panose="00000600000000000000" pitchFamily="2" charset="-52"/>
            </a:endParaRPr>
          </a:p>
        </p:txBody>
      </p: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2AC11F99-8C6E-4F28-A677-20D4863C7F43}"/>
              </a:ext>
            </a:extLst>
          </p:cNvPr>
          <p:cNvGrpSpPr/>
          <p:nvPr/>
        </p:nvGrpSpPr>
        <p:grpSpPr>
          <a:xfrm>
            <a:off x="283858" y="4322000"/>
            <a:ext cx="6940340" cy="894465"/>
            <a:chOff x="292817" y="4508641"/>
            <a:chExt cx="6940340" cy="894465"/>
          </a:xfrm>
        </p:grpSpPr>
        <p:cxnSp>
          <p:nvCxnSpPr>
            <p:cNvPr id="78" name="Прямая соединительная линия 77">
              <a:extLst>
                <a:ext uri="{FF2B5EF4-FFF2-40B4-BE49-F238E27FC236}">
                  <a16:creationId xmlns:a16="http://schemas.microsoft.com/office/drawing/2014/main" id="{C62B29D1-7395-45DB-A408-58A879740FC9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4936667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9" name="Рисунок 78">
              <a:extLst>
                <a:ext uri="{FF2B5EF4-FFF2-40B4-BE49-F238E27FC236}">
                  <a16:creationId xmlns:a16="http://schemas.microsoft.com/office/drawing/2014/main" id="{A2EED94A-700E-4205-B448-491C9584B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2817" y="4568093"/>
              <a:ext cx="835013" cy="835013"/>
            </a:xfrm>
            <a:prstGeom prst="rect">
              <a:avLst/>
            </a:prstGeom>
          </p:spPr>
        </p:pic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D98963E9-6F26-41D4-A490-250DB3A36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398144" y="4508641"/>
              <a:ext cx="835013" cy="835013"/>
            </a:xfrm>
            <a:prstGeom prst="rect">
              <a:avLst/>
            </a:prstGeom>
          </p:spPr>
        </p:pic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A7F946EC-B7AA-4439-AEDD-A138DABE0CD5}"/>
              </a:ext>
            </a:extLst>
          </p:cNvPr>
          <p:cNvSpPr txBox="1"/>
          <p:nvPr/>
        </p:nvSpPr>
        <p:spPr>
          <a:xfrm>
            <a:off x="973137" y="5001263"/>
            <a:ext cx="50199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КЛУБНАЯ ЖИЗНЬ И ТУСОВКА </a:t>
            </a:r>
            <a:r>
              <a:rPr lang="ru-RU" sz="14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(СОЦИАЛИЗАЦИЯ И ХОББИ)</a:t>
            </a:r>
            <a:br>
              <a:rPr lang="ru-RU" sz="1000" dirty="0">
                <a:solidFill>
                  <a:srgbClr val="0F1115"/>
                </a:solidFill>
                <a:latin typeface="Calleo" panose="00000600000000000000" pitchFamily="2" charset="-52"/>
              </a:rPr>
            </a:br>
            <a:r>
              <a:rPr lang="ru-RU" sz="1000" i="1" dirty="0">
                <a:solidFill>
                  <a:srgbClr val="0F1115"/>
                </a:solidFill>
                <a:latin typeface="Calleo" panose="00000600000000000000" pitchFamily="2" charset="-52"/>
              </a:rPr>
              <a:t>П</a:t>
            </a:r>
            <a:r>
              <a:rPr lang="ru-RU" sz="1000" b="0" i="1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ро активность вне департамента</a:t>
            </a:r>
            <a:endParaRPr lang="ru-RU" sz="1000" dirty="0">
              <a:latin typeface="Calleo" panose="00000600000000000000" pitchFamily="2" charset="-52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775EAD-85F6-4162-AD89-834F75D0D467}"/>
              </a:ext>
            </a:extLst>
          </p:cNvPr>
          <p:cNvSpPr txBox="1"/>
          <p:nvPr/>
        </p:nvSpPr>
        <p:spPr>
          <a:xfrm>
            <a:off x="982080" y="5745273"/>
            <a:ext cx="5621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12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000" b="1" dirty="0">
                <a:latin typeface="Calleo" panose="00000600000000000000" pitchFamily="2" charset="-52"/>
              </a:rPr>
              <a:t> </a:t>
            </a:r>
            <a:r>
              <a:rPr lang="ru-RU" sz="1000" b="1" dirty="0">
                <a:latin typeface="Calleo" panose="00000600000000000000" pitchFamily="2" charset="-52"/>
              </a:rPr>
              <a:t>Клубная стратегия:</a:t>
            </a:r>
            <a:r>
              <a:rPr lang="en-US" sz="1000" b="1" dirty="0">
                <a:latin typeface="Calleo" panose="00000600000000000000" pitchFamily="2" charset="-52"/>
              </a:rPr>
              <a:t> </a:t>
            </a:r>
            <a:r>
              <a:rPr lang="en-US" sz="1000" dirty="0">
                <a:latin typeface="Calleo" panose="00000600000000000000" pitchFamily="2" charset="-52"/>
              </a:rPr>
              <a:t>{{ q9_answer }}</a:t>
            </a:r>
            <a:br>
              <a:rPr lang="ru-RU" sz="1000" dirty="0">
                <a:latin typeface="Calleo" panose="00000600000000000000" pitchFamily="2" charset="-52"/>
              </a:rPr>
            </a:br>
            <a:endParaRPr lang="ru-RU" sz="1000" dirty="0">
              <a:latin typeface="Calleo" panose="00000600000000000000" pitchFamily="2" charset="-52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en-US" sz="1000" b="1" dirty="0">
                <a:latin typeface="Calleo" panose="00000600000000000000" pitchFamily="2" charset="-52"/>
              </a:rPr>
              <a:t> </a:t>
            </a:r>
            <a:r>
              <a:rPr lang="ru-RU" sz="1000" b="1" dirty="0">
                <a:latin typeface="Calleo" panose="00000600000000000000" pitchFamily="2" charset="-52"/>
              </a:rPr>
              <a:t>Внутренняя валюта (Трата зарплаты): </a:t>
            </a:r>
            <a:r>
              <a:rPr lang="en-US" sz="1000" dirty="0">
                <a:latin typeface="Calleo" panose="00000600000000000000" pitchFamily="2" charset="-52"/>
              </a:rPr>
              <a:t>{{ q10_answer }}</a:t>
            </a:r>
            <a:br>
              <a:rPr lang="ru-RU" sz="1000" dirty="0">
                <a:latin typeface="Calleo" panose="00000600000000000000" pitchFamily="2" charset="-52"/>
              </a:rPr>
            </a:br>
            <a:endParaRPr lang="ru-RU" sz="1000" dirty="0">
              <a:latin typeface="Calleo" panose="00000600000000000000" pitchFamily="2" charset="-52"/>
            </a:endParaRPr>
          </a:p>
          <a:p>
            <a:pPr fontAlgn="base">
              <a:spcAft>
                <a:spcPts val="1200"/>
              </a:spcAft>
              <a:buFont typeface="+mj-lt"/>
              <a:buAutoNum type="arabicPeriod" startAt="9"/>
            </a:pPr>
            <a:r>
              <a:rPr lang="en-US" sz="1000" b="1" dirty="0">
                <a:latin typeface="Calleo" panose="00000600000000000000" pitchFamily="2" charset="-52"/>
              </a:rPr>
              <a:t> </a:t>
            </a:r>
            <a:r>
              <a:rPr lang="ru-RU" sz="1000" b="1" dirty="0">
                <a:latin typeface="Calleo" panose="00000600000000000000" pitchFamily="2" charset="-52"/>
              </a:rPr>
              <a:t>Энергия: </a:t>
            </a:r>
            <a:r>
              <a:rPr lang="en-US" sz="1000" dirty="0">
                <a:latin typeface="Calleo" panose="00000600000000000000" pitchFamily="2" charset="-52"/>
              </a:rPr>
              <a:t>{{ q11_answer }}</a:t>
            </a:r>
            <a:endParaRPr lang="ru-RU" sz="1000" dirty="0">
              <a:latin typeface="Calleo" panose="00000600000000000000" pitchFamily="2" charset="-52"/>
            </a:endParaRPr>
          </a:p>
        </p:txBody>
      </p: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CFD20103-8781-45CF-A21D-CEC44FE8A607}"/>
              </a:ext>
            </a:extLst>
          </p:cNvPr>
          <p:cNvGrpSpPr/>
          <p:nvPr/>
        </p:nvGrpSpPr>
        <p:grpSpPr>
          <a:xfrm>
            <a:off x="297403" y="7339085"/>
            <a:ext cx="6940340" cy="894465"/>
            <a:chOff x="292817" y="4508641"/>
            <a:chExt cx="6940340" cy="894465"/>
          </a:xfrm>
        </p:grpSpPr>
        <p:cxnSp>
          <p:nvCxnSpPr>
            <p:cNvPr id="84" name="Прямая соединительная линия 83">
              <a:extLst>
                <a:ext uri="{FF2B5EF4-FFF2-40B4-BE49-F238E27FC236}">
                  <a16:creationId xmlns:a16="http://schemas.microsoft.com/office/drawing/2014/main" id="{3C9E638F-0826-4796-822E-53E347B3C782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4936667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Рисунок 84">
              <a:extLst>
                <a:ext uri="{FF2B5EF4-FFF2-40B4-BE49-F238E27FC236}">
                  <a16:creationId xmlns:a16="http://schemas.microsoft.com/office/drawing/2014/main" id="{06485924-2DE2-445B-888C-23D719988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2817" y="4568093"/>
              <a:ext cx="835013" cy="835013"/>
            </a:xfrm>
            <a:prstGeom prst="rect">
              <a:avLst/>
            </a:prstGeom>
          </p:spPr>
        </p:pic>
        <p:pic>
          <p:nvPicPr>
            <p:cNvPr id="86" name="Рисунок 85">
              <a:extLst>
                <a:ext uri="{FF2B5EF4-FFF2-40B4-BE49-F238E27FC236}">
                  <a16:creationId xmlns:a16="http://schemas.microsoft.com/office/drawing/2014/main" id="{FBFDD28A-07BC-41A6-9285-F90DEF726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6398144" y="4508641"/>
              <a:ext cx="835013" cy="835013"/>
            </a:xfrm>
            <a:prstGeom prst="rect">
              <a:avLst/>
            </a:prstGeom>
          </p:spPr>
        </p:pic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E3CC20A-DBA3-46E1-B821-95098B987699}"/>
              </a:ext>
            </a:extLst>
          </p:cNvPr>
          <p:cNvSpPr txBox="1"/>
          <p:nvPr/>
        </p:nvSpPr>
        <p:spPr>
          <a:xfrm>
            <a:off x="986682" y="8018348"/>
            <a:ext cx="50199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ru-RU" sz="14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СЮЖЕТ И РЕАЛЬНОСТЬ </a:t>
            </a:r>
            <a:r>
              <a:rPr lang="ru-RU" sz="14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(ВОВЛЕЧЕННОСТЬ И РЕФЛЕКСИЯ)</a:t>
            </a:r>
            <a:br>
              <a:rPr lang="ru-RU" sz="10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r>
              <a:rPr lang="ru-RU" sz="1000" b="0" i="1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Связываем игру с внутренним миром ребенка</a:t>
            </a:r>
            <a:r>
              <a:rPr lang="ru-RU" sz="1800" b="0" i="1" u="none" strike="noStrike" dirty="0">
                <a:solidFill>
                  <a:srgbClr val="0F1115"/>
                </a:solidFill>
                <a:effectLst/>
                <a:latin typeface="Proxima Nova"/>
              </a:rPr>
              <a:t>.</a:t>
            </a:r>
            <a:endParaRPr lang="ru-RU" sz="1400" dirty="0">
              <a:latin typeface="Calleo" panose="00000600000000000000" pitchFamily="2" charset="-52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41FD5E-BCC0-40E9-9501-F860D12FBB32}"/>
              </a:ext>
            </a:extLst>
          </p:cNvPr>
          <p:cNvSpPr txBox="1"/>
          <p:nvPr/>
        </p:nvSpPr>
        <p:spPr>
          <a:xfrm>
            <a:off x="995625" y="8762358"/>
            <a:ext cx="5621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ts val="1200"/>
              </a:spcBef>
              <a:buFont typeface="+mj-lt"/>
              <a:buAutoNum type="arabicPeriod" startAt="12"/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Вера в легенду:</a:t>
            </a:r>
            <a:r>
              <a:rPr lang="en-US" sz="1000" dirty="0">
                <a:latin typeface="Calleo" panose="00000600000000000000" pitchFamily="2" charset="-52"/>
              </a:rPr>
              <a:t> {{ q12_answer }}</a:t>
            </a:r>
            <a:br>
              <a:rPr lang="ru-RU" sz="1000" b="0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</a:b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  <a:p>
            <a:pPr fontAlgn="base">
              <a:buFont typeface="+mj-lt"/>
              <a:buAutoNum type="arabicPeriod" startAt="12"/>
            </a:pPr>
            <a:r>
              <a:rPr lang="en-US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 </a:t>
            </a:r>
            <a:r>
              <a:rPr lang="ru-RU" sz="1000" b="1" i="0" u="none" strike="noStrike" dirty="0">
                <a:solidFill>
                  <a:srgbClr val="0F1115"/>
                </a:solidFill>
                <a:effectLst/>
                <a:latin typeface="Calleo" panose="00000600000000000000" pitchFamily="2" charset="-52"/>
              </a:rPr>
              <a:t>Неожиданное качество: </a:t>
            </a:r>
            <a:r>
              <a:rPr lang="en-US" sz="1000" dirty="0">
                <a:latin typeface="Calleo" panose="00000600000000000000" pitchFamily="2" charset="-52"/>
              </a:rPr>
              <a:t>{{ q13_answer }}</a:t>
            </a: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</p:txBody>
      </p:sp>
      <p:sp>
        <p:nvSpPr>
          <p:cNvPr id="90" name="Равнобедренный треугольник 89">
            <a:extLst>
              <a:ext uri="{FF2B5EF4-FFF2-40B4-BE49-F238E27FC236}">
                <a16:creationId xmlns:a16="http://schemas.microsoft.com/office/drawing/2014/main" id="{A915A0F0-5A5C-41BC-9122-35CC3580CA0B}"/>
              </a:ext>
            </a:extLst>
          </p:cNvPr>
          <p:cNvSpPr/>
          <p:nvPr/>
        </p:nvSpPr>
        <p:spPr>
          <a:xfrm rot="10800000">
            <a:off x="6731401" y="10031843"/>
            <a:ext cx="177670" cy="15316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90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D831934F-D1F5-4C4D-BC24-534E10C98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5004" y="9497646"/>
            <a:ext cx="6246690" cy="5659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7DA4747-2B71-4EDF-8EA3-3010AB1882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133332" y="9130939"/>
            <a:ext cx="1768362" cy="141955"/>
          </a:xfrm>
          <a:prstGeom prst="rect">
            <a:avLst/>
          </a:prstGeom>
        </p:spPr>
      </p:pic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0CFBA35B-E4E9-4E3D-9BFD-3D590A79566B}"/>
              </a:ext>
            </a:extLst>
          </p:cNvPr>
          <p:cNvGrpSpPr/>
          <p:nvPr/>
        </p:nvGrpSpPr>
        <p:grpSpPr>
          <a:xfrm>
            <a:off x="498200" y="414928"/>
            <a:ext cx="6563273" cy="596961"/>
            <a:chOff x="482649" y="463230"/>
            <a:chExt cx="6563273" cy="596961"/>
          </a:xfrm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957AF682-ED58-4E2B-9F47-20C83EA00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2649" y="463230"/>
              <a:ext cx="596961" cy="596961"/>
            </a:xfrm>
            <a:prstGeom prst="rect">
              <a:avLst/>
            </a:prstGeom>
          </p:spPr>
        </p:pic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DF578675-A8E2-442C-8CD9-FF3092E06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5400000">
              <a:off x="6448961" y="463230"/>
              <a:ext cx="596961" cy="596961"/>
            </a:xfrm>
            <a:prstGeom prst="rect">
              <a:avLst/>
            </a:prstGeom>
          </p:spPr>
        </p:pic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B3600F5C-9E56-4A35-9C29-26D709983A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6565" y="676514"/>
              <a:ext cx="501993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059B8BD-E938-471F-9E1B-8FF7AFFB21EB}"/>
              </a:ext>
            </a:extLst>
          </p:cNvPr>
          <p:cNvSpPr txBox="1"/>
          <p:nvPr/>
        </p:nvSpPr>
        <p:spPr>
          <a:xfrm>
            <a:off x="982080" y="848656"/>
            <a:ext cx="561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ru-RU" sz="1400" b="1" i="0" u="none" strike="noStrike" dirty="0">
                <a:solidFill>
                  <a:srgbClr val="000000"/>
                </a:solidFill>
                <a:effectLst/>
                <a:latin typeface="Calleo" panose="00000600000000000000" pitchFamily="2" charset="-52"/>
              </a:rPr>
              <a:t>ОБЩЕЕ ЗАКЛЮЧЕНИЕ ПЕДАГОГА:</a:t>
            </a:r>
            <a:endParaRPr lang="ru-RU" sz="1400" b="1" dirty="0">
              <a:latin typeface="Calleo" panose="00000600000000000000" pitchFamily="2" charset="-5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91F0AB-B620-46AE-9CBD-E7AD20721905}"/>
              </a:ext>
            </a:extLst>
          </p:cNvPr>
          <p:cNvSpPr txBox="1"/>
          <p:nvPr/>
        </p:nvSpPr>
        <p:spPr>
          <a:xfrm>
            <a:off x="991023" y="1232332"/>
            <a:ext cx="56219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leo" panose="00000600000000000000" pitchFamily="2" charset="-52"/>
              </a:rPr>
              <a:t>{{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Calleo" panose="00000600000000000000" pitchFamily="2" charset="-52"/>
              </a:rPr>
              <a:t>report_text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Calleo" panose="00000600000000000000" pitchFamily="2" charset="-52"/>
              </a:rPr>
              <a:t> }}</a:t>
            </a:r>
            <a:endParaRPr lang="ru-RU" sz="1000" b="0" i="0" u="none" strike="noStrike" dirty="0">
              <a:solidFill>
                <a:srgbClr val="0F1115"/>
              </a:solidFill>
              <a:effectLst/>
              <a:latin typeface="Calleo" panose="00000600000000000000" pitchFamily="2" charset="-52"/>
            </a:endParaRP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6A9B6839-2007-463D-BF63-6B6D412A0787}"/>
              </a:ext>
            </a:extLst>
          </p:cNvPr>
          <p:cNvGrpSpPr/>
          <p:nvPr/>
        </p:nvGrpSpPr>
        <p:grpSpPr>
          <a:xfrm rot="10800000">
            <a:off x="482649" y="2622326"/>
            <a:ext cx="6563273" cy="596961"/>
            <a:chOff x="482649" y="2856483"/>
            <a:chExt cx="6563273" cy="596961"/>
          </a:xfrm>
        </p:grpSpPr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42E4C1CA-76EE-4694-B5E7-7AF82015D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2649" y="2856483"/>
              <a:ext cx="596961" cy="596961"/>
            </a:xfrm>
            <a:prstGeom prst="rect">
              <a:avLst/>
            </a:prstGeom>
          </p:spPr>
        </p:pic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514B649B-9F76-4110-A312-A3382555D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6448961" y="2856483"/>
              <a:ext cx="596961" cy="5969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5627309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567</TotalTime>
  <Words>277</Words>
  <Application>Microsoft Office PowerPoint</Application>
  <PresentationFormat>Произвольный</PresentationFormat>
  <Paragraphs>26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Calibri Light</vt:lpstr>
      <vt:lpstr>Calleo</vt:lpstr>
      <vt:lpstr>Proxima Nova</vt:lpstr>
      <vt:lpstr>Rockwell</vt:lpstr>
      <vt:lpstr>Wingdings</vt:lpstr>
      <vt:lpstr>Атлас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Алексей Гонтов</dc:creator>
  <cp:lastModifiedBy>Varvara</cp:lastModifiedBy>
  <cp:revision>57</cp:revision>
  <dcterms:created xsi:type="dcterms:W3CDTF">2026-06-25T08:25:21Z</dcterms:created>
  <dcterms:modified xsi:type="dcterms:W3CDTF">2026-06-25T18:11:35Z</dcterms:modified>
</cp:coreProperties>
</file>